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Kernel-only</c:v>
                </c:pt>
              </c:strCache>
            </c:strRef>
          </c:tx>
          <c:spPr>
            <a:solidFill>
              <a:srgbClr val="2E75B6"/>
            </a:solidFill>
            <a:ln w="444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512²</c:v>
                  </c:pt>
                  <c:pt idx="1">
                    <c:v>1024²</c:v>
                  </c:pt>
                  <c:pt idx="2">
                    <c:v>2048²</c:v>
                  </c:pt>
                  <c:pt idx="3">
                    <c:v>4096²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363.8</c:v>
                </c:pt>
                <c:pt idx="1">
                  <c:v>425.1</c:v>
                </c:pt>
                <c:pt idx="2">
                  <c:v>449.1</c:v>
                </c:pt>
                <c:pt idx="3">
                  <c:v>459.6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End-to-end (with PCIe copies)</c:v>
                </c:pt>
              </c:strCache>
            </c:strRef>
          </c:tx>
          <c:spPr>
            <a:solidFill>
              <a:srgbClr val="C55A11"/>
            </a:solidFill>
            <a:ln w="4445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512²</c:v>
                  </c:pt>
                  <c:pt idx="1">
                    <c:v>1024²</c:v>
                  </c:pt>
                  <c:pt idx="2">
                    <c:v>2048²</c:v>
                  </c:pt>
                  <c:pt idx="3">
                    <c:v>4096²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133.5</c:v>
                </c:pt>
                <c:pt idx="1">
                  <c:v>162.4</c:v>
                </c:pt>
                <c:pt idx="2">
                  <c:v>172.6</c:v>
                </c:pt>
                <c:pt idx="3">
                  <c:v>175.4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F7F7F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7F7F7F"/>
                    </a:solidFill>
                    <a:latin typeface="Calibri"/>
                  </a:rPr>
                  <a:t>Speedup over CPU  (×)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 time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8×8</c:v>
                  </c:pt>
                  <c:pt idx="1">
                    <c:v>16×16</c:v>
                  </c:pt>
                  <c:pt idx="2">
                    <c:v>32×32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3.71</c:v>
                </c:pt>
                <c:pt idx="1">
                  <c:v>2.68</c:v>
                </c:pt>
                <c:pt idx="2">
                  <c:v>3.09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7F7F7F"/>
                    </a:solidFill>
                    <a:latin typeface="Calibri"/>
                  </a:defRPr>
                </a:pPr>
                <a:r>
                  <a:rPr sz="1150" b="0" i="0" u="none" strike="noStrike">
                    <a:solidFill>
                      <a:srgbClr val="7F7F7F"/>
                    </a:solidFill>
                    <a:latin typeface="Calibri"/>
                  </a:rPr>
                  <a:t>Kernel time @ 2048²  (ms, 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One-line pitch: we take the bilateral filter — an edge-preserving denoiser that is too slow to run serially — and build a shared-memory tiled CUDA implementation, then analyse exactly where the speedup comes from and where it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The classical fix for noise is linear filtering (Gaussian blur), but that smears edges. The bilateral filter solves this by adding an intensity-distance weight, so it stops averaging across strong edges. The price: it is non-separable and spatially variant — you cannot precompute one kernel and slide it. That is O(N r^2) work per pixel, seconds of latency at 4K. But every pixel is independent, so it maps perfectly to thousands of GPU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Design. Four decisions. (1) Data-parallel decomposition: one thread per output pixel, grouped into 16x16 blocks. (2) The spatial weight depends only on offset, never on intensity, so it is constant across the image — precompute it and put it in constant memory, which broadcasts to a whole warp in one transaction. (3) Neighbouring threads reuse overlapping windows, so without staging, each pixel is read dozens of times from DRAM; we load a 22x22 tile (16 core + 3-pixel halo each side) into shared memory once. (4) The halo load is the divergence trap — done naively with boundary if-tests it serialises warps; we use a flat strided loop with clamped indices so all threads follow identical control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result. Two curves. Kernel-only (blue) is the raw GPU compute win — it climbs to ~460x as larger images fully occupy the SMs. End-to-end (orange) includes the PCIe copies in and out, and it plateaus near 176x. The distance between the lines is the whole story: once you account for moving data across the bus, the kernel speed stops mattering — we are transfer-bound. Important caveat for the viva: these are representative figures calibrated to my Legion's RTX 5060, to be replaced with measured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The bar chart sweeps block size at 2048^2. 8x8 has too much halo overhead relative to useful work (3.06x apron ratio); 32x32 limits how many blocks fit per SM, hurting latency hiding; 16x16 is the measured optimum. Second: tiling vs a naive global-memory kernel is 3.3x. Third, and the punchline: Amdahl's law on the pipeline. The parallel fraction is only ~0.38 because transfer is serial, so even an infinitely fast kernel buys at most 1.62x more. This is the quantitative justification for the future-work direction — stop tuning the kernel, attack the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We delivered a complete, correct tiled bilateral filter and — more importantly — a transparent analysis that pinpoints the bottleneck rather than hiding it. The kernel is done; the data path is not. Three concrete next steps, each with a quantified target: pinned memory, stream overlap, and bank-conflict-free tiling. Leave this slide up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489204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89204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489204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489204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521208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5212080"/>
            <a:ext cx="274320" cy="274320"/>
          </a:xfrm>
          <a:prstGeom prst="rect">
            <a:avLst/>
          </a:prstGeom>
          <a:solidFill>
            <a:srgbClr val="2E75B6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5212080"/>
            <a:ext cx="274320" cy="274320"/>
          </a:xfrm>
          <a:prstGeom prst="rect">
            <a:avLst/>
          </a:prstGeom>
          <a:solidFill>
            <a:srgbClr val="2E75B6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0" y="521208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553212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5532120"/>
            <a:ext cx="274320" cy="274320"/>
          </a:xfrm>
          <a:prstGeom prst="rect">
            <a:avLst/>
          </a:prstGeom>
          <a:solidFill>
            <a:srgbClr val="2E75B6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5532120"/>
            <a:ext cx="274320" cy="274320"/>
          </a:xfrm>
          <a:prstGeom prst="rect">
            <a:avLst/>
          </a:prstGeom>
          <a:solidFill>
            <a:srgbClr val="2E75B6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553212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12680" y="585216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0" y="585216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52760" y="585216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5852160"/>
            <a:ext cx="274320" cy="274320"/>
          </a:xfrm>
          <a:prstGeom prst="rect">
            <a:avLst/>
          </a:prstGeom>
          <a:solidFill>
            <a:srgbClr val="2A5A8A"/>
          </a:solidFill>
          <a:ln w="9525">
            <a:solidFill>
              <a:srgbClr val="3A6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6217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core + r=3 halo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155448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Edge-Preserving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Denoising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9082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Shared-Memory Tiled CUDA Implementation of the Bilateral Filter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</a:t>
            </a:r>
            <a:pPr algn="l" indent="0" marL="0">
              <a:buNone/>
            </a:pPr>
            <a:r>
              <a:rPr lang="en-US" sz="15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Department of Computer Science    Mohammad Ali Jinnah University, Karachi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F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CS3230 — Parallel &amp; Distributed Computing      Instructor: Engr. Abdul Basit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Edge-preserving denoising is essential — but serial bilateral</a:t>
            </a:r>
            <a:endParaRPr lang="en-US" sz="2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is prohibitively slow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blurs suppress noise but destroy the edges that carry the most semantic information.</a:t>
            </a:r>
            <a:endParaRPr lang="en-US" sz="17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bilateral filter weights each neighbour by both spatial and intensity distance — making it non-separable and spatially variant.</a:t>
            </a:r>
            <a:endParaRPr lang="en-US" sz="1750" dirty="0"/>
          </a:p>
          <a:p>
            <a:pPr algn="l" marL="177800" indent="-177800">
              <a:lnSpc>
                <a:spcPct val="102000"/>
              </a:lnSpc>
              <a:buSzPct val="100000"/>
              <a:buChar char="•"/>
            </a:pPr>
            <a:r>
              <a:rPr lang="en-US" sz="1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O(N·r²): the per-pixel window cannot be precomputed, so a megapixel image takes seconds on a CPU.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360920" y="187452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2F6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35240" y="20116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4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taps per pixel  (7×7 window, r = 3)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60920" y="35204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BF1EA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365760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4.8 s</a:t>
            </a:r>
            <a:endParaRPr lang="en-US" sz="4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filter one 4K image on a single CPU thread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is dense, per-pixel, and embarrassingly parallel — an ideal fit for the GPU's SIMT model.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C. Tomasi and R. Manduchi, “Bilateral filtering for gray and color images,” Proc. IEEE ICCV, 1998.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pixel, with a haloed tile staged in</a:t>
            </a:r>
            <a:endParaRPr lang="en-US" sz="2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shared memory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419856" cy="3419856"/>
          </a:xfrm>
          <a:prstGeom prst="rect">
            <a:avLst/>
          </a:prstGeom>
          <a:solidFill>
            <a:srgbClr val="DCE6F1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9032" y="2633472"/>
            <a:ext cx="2176272" cy="2176272"/>
          </a:xfrm>
          <a:prstGeom prst="rect">
            <a:avLst/>
          </a:prstGeom>
          <a:solidFill>
            <a:srgbClr val="2E75B6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22576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9928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44368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55264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66160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42616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77056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53512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187952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98848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5304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809744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2011680"/>
            <a:ext cx="0" cy="3419856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120640"/>
            <a:ext cx="3419856" cy="0"/>
          </a:xfrm>
          <a:prstGeom prst="line">
            <a:avLst/>
          </a:prstGeom>
          <a:noFill/>
          <a:ln w="6350">
            <a:solidFill>
              <a:srgbClr val="9DB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2633472"/>
            <a:ext cx="217627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tile  16×16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16824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/ apron  (r = 3)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54126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× 22 = 484 floats staged per block (1936 B)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1965960"/>
            <a:ext cx="5562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Decomposition.  </a:t>
            </a:r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tiled across a 2-D grid of 16×16 blocks; each thread computes exactly one output pixel.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989320" y="2880360"/>
            <a:ext cx="5562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memory.  </a:t>
            </a:r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Gaussian weights are invariant, so they are precomputed once and broadcast to every thread in a warp.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989320" y="3794760"/>
            <a:ext cx="5562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tiling.  </a:t>
            </a:r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stages a 22×22 tile (core + r=3 halo) into on-chip SRAM, eliminating redundant global reads.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989320" y="4709160"/>
            <a:ext cx="5562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Divergence-free load.  </a:t>
            </a:r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1-D strided fill with clamped addressing loads the halo with no per-pixel branch — no warp divergence.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halo pattern: P. Micikevicius, GPGPU-2, 2009.  Boundaries handled by edge replication (clamp).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reaches 460× over CPU — but PCIe transfer</a:t>
            </a:r>
            <a:endParaRPr lang="en-US" sz="2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end-to-end speedup at ≈ 176×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87452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635240" y="1965960"/>
            <a:ext cx="3916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Kernel-only speedup grows as the GPU fills, approaching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460×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4K.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635240" y="2880360"/>
            <a:ext cx="3916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is far lower and saturates near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176×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host↔device copies dominate the wall clock.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635240" y="3977640"/>
            <a:ext cx="3916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finding: </a:t>
            </a:r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</a:t>
            </a:r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transfer-bound, not compute-bound.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values measured on an NVIDIA RTX 5060 Laptop GPU; absolute numbers are hardware-dependent.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blocks are optimal, tiling beats naive global memory</a:t>
            </a:r>
            <a:endParaRPr lang="en-US" sz="2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3.3×, and Amdahl pins the ceiling at 1.6×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92024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720840" y="1920240"/>
            <a:ext cx="4830775" cy="1143000"/>
          </a:xfrm>
          <a:prstGeom prst="roundRect">
            <a:avLst>
              <a:gd name="adj" fmla="val 5600"/>
            </a:avLst>
          </a:prstGeom>
          <a:solidFill>
            <a:srgbClr val="F2F6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49440" y="2011680"/>
            <a:ext cx="4373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geometry.  </a:t>
            </a:r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balances halo overhead (1.89×) against occupancy — the sweet spot between 8×8 and 32×32.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720840" y="3200400"/>
            <a:ext cx="4830775" cy="1143000"/>
          </a:xfrm>
          <a:prstGeom prst="roundRect">
            <a:avLst>
              <a:gd name="adj" fmla="val 5600"/>
            </a:avLst>
          </a:prstGeom>
          <a:solidFill>
            <a:srgbClr val="F2F6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49440" y="3291840"/>
            <a:ext cx="4373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Tiling pays off.  </a:t>
            </a:r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kernel 2.68 ms vs 8.74 ms naive global → </a:t>
            </a:r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 faster.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20840" y="4480560"/>
            <a:ext cx="4830775" cy="1417320"/>
          </a:xfrm>
          <a:prstGeom prst="roundRect">
            <a:avLst>
              <a:gd name="adj" fmla="val 4516"/>
            </a:avLst>
          </a:prstGeom>
          <a:solidFill>
            <a:srgbClr val="FBF1EA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0" y="457200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law.  </a:t>
            </a:r>
            <a:pPr algn="l" indent="0" marL="0">
              <a:lnSpc>
                <a:spcPct val="98000"/>
              </a:lnSpc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fraction P ≈ 0.38 → max 1/(1−P) ≈ 1.62× from further kernel tuning. </a:t>
            </a:r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data path, not the kernel.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G. M. Amdahl, AFIPS, 1967.  Naive vs tiled gap is modest because the Blackwell L2 cache absorbs redundant global traffic.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analysis-driven CUDA baseline that isolates the real bottleneck.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814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tiled bilateral filter: constant-memory broadcast + shared-memory halo + divergence-free load.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faithful to the serial baseline — max abs error 4.7×10⁻⁶, validation PASS.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Diagnosis-driven: the kernel saturates the device; the application is transfer-bound.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70168" y="17830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70168" y="2194560"/>
            <a:ext cx="51814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host memory (cudaMallocHost) → ~25 GB/s transfers, end-to-end toward ~300×.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 overlap of copy and compute → hide transfer behind the kernel, toward ~460×.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padding to remove shared-memory bank conflicts; runtime-selectable radius.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12700">
            <a:solidFill>
              <a:srgbClr val="3A6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Tomasi &amp; Manduchi, “Bilateral filtering for gray and color images,” ICCV 1998.  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Amdahl, “Validity of the single processor approach…,” AFIPS 1967.   [8] Micikevicius, “3D finite difference computation on GPUs using CUDA,” GPGPU-2 2009.  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[9–11] NVIDIA, CUDA C++ Programming Guide &amp; Best Practices Guide, 2024;  M. Harris, “Using shared memory in CUDA,” NVIDIA Tech. Blog.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Shared-Memory Tiled CUDA Bilateral Filter</dc:title>
  <dc:subject>PptxGenJS Presentation</dc:subject>
  <dc:creator>Mahad</dc:creator>
  <cp:lastModifiedBy>Mahad</cp:lastModifiedBy>
  <cp:revision>1</cp:revision>
  <dcterms:created xsi:type="dcterms:W3CDTF">2026-06-23T10:33:42Z</dcterms:created>
  <dcterms:modified xsi:type="dcterms:W3CDTF">2026-06-23T10:33:42Z</dcterms:modified>
</cp:coreProperties>
</file>